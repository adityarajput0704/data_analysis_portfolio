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71" r:id="rId5"/>
    <p:sldId id="269" r:id="rId6"/>
    <p:sldId id="276" r:id="rId7"/>
    <p:sldId id="275" r:id="rId8"/>
    <p:sldId id="277" r:id="rId9"/>
    <p:sldId id="278" r:id="rId10"/>
    <p:sldId id="279" r:id="rId11"/>
    <p:sldId id="280" r:id="rId12"/>
    <p:sldId id="281" r:id="rId13"/>
    <p:sldId id="282" r:id="rId14"/>
    <p:sldId id="268" r:id="rId15"/>
    <p:sldId id="270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C1CF132-24F7-4142-A31F-DC4C1E4260B3}">
          <p14:sldIdLst>
            <p14:sldId id="256"/>
            <p14:sldId id="257"/>
            <p14:sldId id="274"/>
            <p14:sldId id="271"/>
            <p14:sldId id="269"/>
            <p14:sldId id="276"/>
            <p14:sldId id="275"/>
            <p14:sldId id="277"/>
            <p14:sldId id="278"/>
            <p14:sldId id="279"/>
            <p14:sldId id="280"/>
            <p14:sldId id="281"/>
            <p14:sldId id="282"/>
            <p14:sldId id="268"/>
            <p14:sldId id="270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1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Wellness Analysis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1"/>
            <a:ext cx="8229600" cy="1828800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3BFF8-7219-3ADF-CACE-2DE0ECA5E841}"/>
              </a:ext>
            </a:extLst>
          </p:cNvPr>
          <p:cNvSpPr txBox="1"/>
          <p:nvPr/>
        </p:nvSpPr>
        <p:spPr>
          <a:xfrm>
            <a:off x="3323302" y="3200401"/>
            <a:ext cx="2310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Rajput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Mental health has become a critical concern in modern workplaces</a:t>
            </a:r>
          </a:p>
          <a:p>
            <a:r>
              <a:rPr lang="en-US" sz="2400" dirty="0"/>
              <a:t>Work-related stress, anxiety, and burnout directly affect productivity and employee well-being</a:t>
            </a:r>
          </a:p>
          <a:p>
            <a:r>
              <a:rPr lang="en-US" sz="2400" dirty="0"/>
              <a:t>Many organizations lack data-driven understanding of mental health challenges</a:t>
            </a:r>
          </a:p>
          <a:p>
            <a:r>
              <a:rPr lang="en-US" sz="2400" dirty="0"/>
              <a:t>Exploratory Data Analysis (EDA) helps uncover hidden patterns and key influencing factors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7688-FE97-F35F-6FF9-392DDE3F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CB38-FDFB-6F73-3E6E-958B26EA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27A9-9E81-39AD-F4FC-B0DDD0CB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analyze employee demographic patterns related to mental health</a:t>
            </a:r>
          </a:p>
          <a:p>
            <a:r>
              <a:rPr lang="en-US" sz="2400" dirty="0"/>
              <a:t>To understand how mental health affects work performance and productivity</a:t>
            </a:r>
          </a:p>
          <a:p>
            <a:r>
              <a:rPr lang="en-US" sz="2400" dirty="0"/>
              <a:t>To identify factors influencing mental health treatment-seeking behavior</a:t>
            </a:r>
          </a:p>
          <a:p>
            <a:r>
              <a:rPr lang="en-US" sz="2400" dirty="0"/>
              <a:t>To examine the impact of workplace conditions such as remote work and supervisor support</a:t>
            </a:r>
          </a:p>
          <a:p>
            <a:r>
              <a:rPr lang="en-US" sz="2400" dirty="0"/>
              <a:t>To derive actionable insights that can help organizations improve mental health policies</a:t>
            </a:r>
          </a:p>
        </p:txBody>
      </p:sp>
    </p:spTree>
    <p:extLst>
      <p:ext uri="{BB962C8B-B14F-4D97-AF65-F5344CB8AC3E}">
        <p14:creationId xmlns:p14="http://schemas.microsoft.com/office/powerpoint/2010/main" val="385744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9333-1709-CB19-A674-01FA829C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5869AD-B930-F2E1-BA48-E16C11972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b="1" dirty="0"/>
              <a:t>Dataset Type</a:t>
            </a:r>
            <a:r>
              <a:rPr lang="en-US" sz="2600" dirty="0"/>
              <a:t>: Employee Mental Health &amp; Wellness Survey</a:t>
            </a:r>
          </a:p>
          <a:p>
            <a:r>
              <a:rPr lang="en-US" sz="2600" b="1" dirty="0"/>
              <a:t>Number of Records: </a:t>
            </a:r>
            <a:r>
              <a:rPr lang="en-US" sz="2600" dirty="0"/>
              <a:t>~1,000 employee responses</a:t>
            </a:r>
          </a:p>
          <a:p>
            <a:r>
              <a:rPr lang="en-US" sz="2600" b="1" dirty="0"/>
              <a:t>Number of Features</a:t>
            </a:r>
            <a:r>
              <a:rPr lang="en-US" sz="2600" dirty="0"/>
              <a:t>: 25+ variables</a:t>
            </a:r>
          </a:p>
          <a:p>
            <a:r>
              <a:rPr lang="en-US" sz="2600" b="1" dirty="0"/>
              <a:t>Data Nature: </a:t>
            </a:r>
            <a:r>
              <a:rPr lang="en-US" sz="2600" dirty="0"/>
              <a:t>Self-reported survey data</a:t>
            </a:r>
          </a:p>
          <a:p>
            <a:pPr marL="0" indent="0">
              <a:buNone/>
            </a:pPr>
            <a:r>
              <a:rPr lang="en-US" sz="2800" dirty="0"/>
              <a:t>Key Attributes Included:</a:t>
            </a:r>
          </a:p>
          <a:p>
            <a:r>
              <a:rPr lang="en-US" sz="2600" b="1" dirty="0"/>
              <a:t>Demographics</a:t>
            </a:r>
            <a:r>
              <a:rPr lang="en-US" sz="2600" dirty="0"/>
              <a:t>: Age, Gender, Country</a:t>
            </a:r>
          </a:p>
          <a:p>
            <a:r>
              <a:rPr lang="en-US" sz="2600" b="1" dirty="0"/>
              <a:t>Personal Factors: </a:t>
            </a:r>
            <a:r>
              <a:rPr lang="en-US" sz="2600" dirty="0"/>
              <a:t>Family history of mental illness</a:t>
            </a:r>
          </a:p>
          <a:p>
            <a:r>
              <a:rPr lang="en-US" sz="2600" b="1" dirty="0"/>
              <a:t>Workplace Factors</a:t>
            </a:r>
            <a:r>
              <a:rPr lang="en-US" sz="2600" dirty="0"/>
              <a:t>: Company size, Remote work, Supervisor support</a:t>
            </a:r>
          </a:p>
          <a:p>
            <a:r>
              <a:rPr lang="en-US" sz="2600" b="1" dirty="0"/>
              <a:t>Mental Health Indicators</a:t>
            </a:r>
            <a:r>
              <a:rPr lang="en-US" sz="2600" dirty="0"/>
              <a:t>: Treatment status, Work interference</a:t>
            </a:r>
          </a:p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6666693-D89B-2F09-4C9F-3948E525F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2528" y="81254"/>
            <a:ext cx="931652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Columns (Fields)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61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868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717" y="1498661"/>
            <a:ext cx="82296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Removed unrealistic and invalid age values to maintain real-world consistency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Standardized categorical variables such as gender to ensure uniform representation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Handled missing values in survey responses to avoid biased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Normalized column names for consistency and easier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Grouped similar categorical responses to improve clarity in visualizations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7F67-0D4E-B340-E036-9B9B544BF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6925-C5AC-83D9-DCF2-4CC71566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Age Distribution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77247-2379-B033-D617-5C44132554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800" b="1" dirty="0"/>
              <a:t>Visualization Type :</a:t>
            </a:r>
            <a:r>
              <a:rPr lang="en-US" sz="1800" dirty="0"/>
              <a:t>Histogram with Kernel Density Estimate (KDE)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/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Observations:</a:t>
            </a:r>
            <a:endParaRPr lang="en-US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/>
              <a:t>Most employes fall between </a:t>
            </a:r>
            <a:r>
              <a:rPr lang="en-US" altLang="en-US" sz="1800" b="1" dirty="0"/>
              <a:t>25 and 40 years</a:t>
            </a:r>
            <a:r>
              <a:rPr lang="en-US" altLang="en-US" sz="1800" dirty="0"/>
              <a:t>, with a peak in the early 30s.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/>
              <a:t>Employee count decreases beyond 40, forming a </a:t>
            </a:r>
            <a:r>
              <a:rPr lang="en-US" altLang="en-US" sz="1800" b="1" dirty="0"/>
              <a:t>right-skewed distribution</a:t>
            </a:r>
            <a:r>
              <a:rPr lang="en-US" altLang="en-US" sz="1800" dirty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/>
              <a:t>The KDE curve follows the histogram closely, indicating a consistent age pattern.</a:t>
            </a:r>
          </a:p>
          <a:p>
            <a:endParaRPr lang="en-US" sz="1600" dirty="0"/>
          </a:p>
          <a:p>
            <a:r>
              <a:rPr lang="en-US" sz="1800" b="1" dirty="0"/>
              <a:t>Insights :</a:t>
            </a: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800" dirty="0"/>
              <a:t>The workforce is mainly </a:t>
            </a:r>
            <a:r>
              <a:rPr lang="en-US" sz="1800" b="1" dirty="0"/>
              <a:t>early to mid-career professionals</a:t>
            </a:r>
            <a:r>
              <a:rPr lang="en-US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Mental health programs should focus more on </a:t>
            </a:r>
            <a:r>
              <a:rPr lang="en-US" sz="1800" b="1" dirty="0"/>
              <a:t>younger employees</a:t>
            </a:r>
            <a:r>
              <a:rPr lang="en-US" sz="1800" dirty="0"/>
              <a:t>, who form the majority.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Age distribution provides useful context for analyzing treatment and work-related stress.</a:t>
            </a:r>
          </a:p>
        </p:txBody>
      </p:sp>
      <p:pic>
        <p:nvPicPr>
          <p:cNvPr id="15" name="Content Placeholder 14" descr="A graph of a number of employees&#10;&#10;AI-generated content may be incorrect.">
            <a:extLst>
              <a:ext uri="{FF2B5EF4-FFF2-40B4-BE49-F238E27FC236}">
                <a16:creationId xmlns:a16="http://schemas.microsoft.com/office/drawing/2014/main" id="{BB9FD9E1-2761-1D83-22C1-1A77D1DF98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10935"/>
          <a:stretch>
            <a:fillRect/>
          </a:stretch>
        </p:blipFill>
        <p:spPr>
          <a:xfrm>
            <a:off x="4383447" y="1912716"/>
            <a:ext cx="4760554" cy="363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27EF-5BD5-0448-3ED5-28154E59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312C-7599-C7F9-BAB8-6571D53C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Age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Dsitribution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Treatment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B255-18BB-1661-A2A0-99D27A0E31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600" b="1" dirty="0"/>
              <a:t>Visualization Type :</a:t>
            </a:r>
            <a:r>
              <a:rPr lang="en-IN" sz="1600" dirty="0"/>
              <a:t>Box Plot (Box-and-Whisker Plot)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who have sought treatment show a </a:t>
            </a:r>
            <a:r>
              <a:rPr lang="en-US" sz="1600" b="1" dirty="0"/>
              <a:t>slightly higher median age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Both treatment groups have a similar age range, indicating mental health concerns across ages.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Older age values are more visible in the treatment group.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Older employees are </a:t>
            </a:r>
            <a:r>
              <a:rPr lang="en-US" sz="1600" b="1" dirty="0"/>
              <a:t>more likely to seek mental health treatment</a:t>
            </a:r>
            <a:r>
              <a:rPr lang="en-US" sz="1600" dirty="0"/>
              <a:t>, possibly due to higher awareness.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Younger employees may be </a:t>
            </a:r>
            <a:r>
              <a:rPr lang="en-US" sz="1600" b="1" dirty="0"/>
              <a:t>less open to seeking help</a:t>
            </a:r>
            <a:r>
              <a:rPr lang="en-US" sz="1600" dirty="0"/>
              <a:t>, despite experiencing stress.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This highlights the need for </a:t>
            </a:r>
            <a:r>
              <a:rPr lang="en-US" sz="1600" b="1" dirty="0"/>
              <a:t>targeted awareness programs for early-career professionals</a:t>
            </a:r>
            <a:r>
              <a:rPr lang="en-US" sz="1600" dirty="0"/>
              <a:t>.</a:t>
            </a:r>
          </a:p>
        </p:txBody>
      </p:sp>
      <p:pic>
        <p:nvPicPr>
          <p:cNvPr id="6" name="Content Placeholder 5" descr="A diagram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B7F1901B-382A-1CF3-CDA0-208FA85A2F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95800" y="1581258"/>
            <a:ext cx="4648200" cy="367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1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D6D0-B3EC-B237-80FF-CE0AB5F1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F578-C694-5149-8AF9-97F7BE37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Gender Distribution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53836-8DD4-807A-6668-859E391A25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600" b="1" dirty="0"/>
              <a:t>Visualization Type :</a:t>
            </a:r>
            <a:r>
              <a:rPr lang="en-IN" sz="1600" dirty="0"/>
              <a:t>Box Plot (Box-and-Whisker Plot)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who have sought treatment  show a </a:t>
            </a:r>
            <a:r>
              <a:rPr lang="en-US" sz="1600" b="1" dirty="0"/>
              <a:t>slightly higher median age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Both treatment groups have a similar age range, indicating mental health concerns across ages.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Older age values are more visible in the treatment group.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Older employees are </a:t>
            </a:r>
            <a:r>
              <a:rPr lang="en-US" sz="1600" b="1" dirty="0"/>
              <a:t>more likely to seek mental health treatment</a:t>
            </a:r>
            <a:r>
              <a:rPr lang="en-US" sz="1600" dirty="0"/>
              <a:t>, possibly due to higher awareness.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Younger employees may be </a:t>
            </a:r>
            <a:r>
              <a:rPr lang="en-US" sz="1600" b="1" dirty="0"/>
              <a:t>less open to seeking help</a:t>
            </a:r>
            <a:r>
              <a:rPr lang="en-US" sz="1600" dirty="0"/>
              <a:t>, despite experiencing stress.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This highlights the need for </a:t>
            </a:r>
            <a:r>
              <a:rPr lang="en-US" sz="1600" b="1" dirty="0"/>
              <a:t>targeted awareness programs for early-career professionals</a:t>
            </a:r>
            <a:r>
              <a:rPr lang="en-US" sz="1600" dirty="0"/>
              <a:t>.</a:t>
            </a:r>
          </a:p>
        </p:txBody>
      </p:sp>
      <p:pic>
        <p:nvPicPr>
          <p:cNvPr id="8" name="Content Placeholder 7" descr="A bar graph with text&#10;&#10;AI-generated content may be incorrect.">
            <a:extLst>
              <a:ext uri="{FF2B5EF4-FFF2-40B4-BE49-F238E27FC236}">
                <a16:creationId xmlns:a16="http://schemas.microsoft.com/office/drawing/2014/main" id="{00651EB9-55D0-BABD-3090-DF30C63210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13119"/>
          <a:stretch>
            <a:fillRect/>
          </a:stretch>
        </p:blipFill>
        <p:spPr>
          <a:xfrm>
            <a:off x="4155311" y="1995676"/>
            <a:ext cx="4988689" cy="37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6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1678-2A42-7D9B-D3A8-E214389B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FFE6-EB64-732D-9E07-4F11B46A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84512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Family History vs Mental Health Treatment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6FA67-4786-7C1D-F143-5500C9E5A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48" y="1600200"/>
            <a:ext cx="419485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1600" b="1" dirty="0"/>
              <a:t>Visualization Type : </a:t>
            </a:r>
            <a:r>
              <a:rPr lang="en-US" sz="1600" dirty="0"/>
              <a:t>Grouped Bar Chart (Count Plot)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with a </a:t>
            </a:r>
            <a:r>
              <a:rPr lang="en-US" sz="1600" b="1" dirty="0"/>
              <a:t>family history of mental illness</a:t>
            </a:r>
            <a:r>
              <a:rPr lang="en-US" sz="1600" dirty="0"/>
              <a:t> show a higher count of individuals seeking treatment.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without a family history mostly fall into the </a:t>
            </a:r>
            <a:r>
              <a:rPr lang="en-US" sz="1600" b="1" dirty="0"/>
              <a:t>non-treatment</a:t>
            </a:r>
            <a:r>
              <a:rPr lang="en-US" sz="1600" dirty="0"/>
              <a:t> category.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 contrast between treatment and non-treatment is much stronger for those with family history.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Family history is a </a:t>
            </a:r>
            <a:r>
              <a:rPr lang="en-US" sz="1600" b="1" dirty="0"/>
              <a:t>strong influencing factor</a:t>
            </a:r>
            <a:r>
              <a:rPr lang="en-US" sz="1600" dirty="0"/>
              <a:t> in seeking mental health treatment.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Personal exposure increases awareness and acceptance of mental health support.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Organizations should promote mental health resources </a:t>
            </a:r>
            <a:r>
              <a:rPr lang="en-US" sz="1600" b="1" dirty="0"/>
              <a:t>even for employees without prior family exposure</a:t>
            </a:r>
            <a:r>
              <a:rPr lang="en-US" sz="1600" dirty="0"/>
              <a:t>.</a:t>
            </a:r>
          </a:p>
        </p:txBody>
      </p:sp>
      <p:pic>
        <p:nvPicPr>
          <p:cNvPr id="7" name="Content Placeholder 6" descr="A graph of a family history and mental health treatment&#10;&#10;AI-generated content may be incorrect.">
            <a:extLst>
              <a:ext uri="{FF2B5EF4-FFF2-40B4-BE49-F238E27FC236}">
                <a16:creationId xmlns:a16="http://schemas.microsoft.com/office/drawing/2014/main" id="{E7111CAD-327C-FFEB-A851-BED6D2A237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16805" y="1862363"/>
            <a:ext cx="4827195" cy="367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B3DBA-F3EC-456E-0397-5173D06B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6BE9-AAE0-0964-BBBA-63FB8C0C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84512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Mental Health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Inteference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Work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05AD-6E79-A9BD-20E6-4F9F4E044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48" y="1600200"/>
            <a:ext cx="4194858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Visualization Type : </a:t>
            </a:r>
            <a:r>
              <a:rPr lang="en-US" sz="1600" dirty="0"/>
              <a:t>Bar Chart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 majority of employees report that mental health </a:t>
            </a:r>
            <a:r>
              <a:rPr lang="en-US" sz="1600" b="1" dirty="0"/>
              <a:t>sometimes interferes</a:t>
            </a:r>
            <a:r>
              <a:rPr lang="en-US" sz="1600" dirty="0"/>
              <a:t> with their work.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A noticeable number of employees report </a:t>
            </a:r>
            <a:r>
              <a:rPr lang="en-US" sz="1600" b="1" dirty="0"/>
              <a:t>never</a:t>
            </a:r>
            <a:r>
              <a:rPr lang="en-US" sz="1600" dirty="0"/>
              <a:t> experiencing interference.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Fewer employees report </a:t>
            </a:r>
            <a:r>
              <a:rPr lang="en-US" sz="1600" b="1" dirty="0"/>
              <a:t>often</a:t>
            </a:r>
            <a:r>
              <a:rPr lang="en-US" sz="1600" dirty="0"/>
              <a:t> experiencing interference, though it is still significant.</a:t>
            </a:r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Mental health issues are </a:t>
            </a:r>
            <a:r>
              <a:rPr lang="en-US" sz="1600" b="1" dirty="0"/>
              <a:t>intermittent but widespread</a:t>
            </a:r>
            <a:r>
              <a:rPr lang="en-US" sz="1600" dirty="0"/>
              <a:t>, affecting productivity at various levels.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Even occasional interference can impact overall work performance and efficiency.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Organizations should address mental health proactively, not only for severe cases but also for moderate, recurring issues.</a:t>
            </a:r>
          </a:p>
        </p:txBody>
      </p:sp>
      <p:pic>
        <p:nvPicPr>
          <p:cNvPr id="8" name="Content Placeholder 7" descr="A graph of a bar&#10;&#10;AI-generated content may be incorrect.">
            <a:extLst>
              <a:ext uri="{FF2B5EF4-FFF2-40B4-BE49-F238E27FC236}">
                <a16:creationId xmlns:a16="http://schemas.microsoft.com/office/drawing/2014/main" id="{67C34A9F-64C6-A734-5143-E82CC0139A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22746" y="1715947"/>
            <a:ext cx="4721254" cy="39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89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D5C9-CD7A-E0AE-3613-13756A69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9C77-BC9A-9CD6-6BA1-E3D6FA90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84512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6. Remote Work vs Mental Health Interference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66EC6-5563-0159-BC91-A3A3F9AB6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48" y="1600200"/>
            <a:ext cx="4194858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/>
              <a:t>Visualization Type :</a:t>
            </a:r>
            <a:r>
              <a:rPr lang="en-US" sz="1600" dirty="0"/>
              <a:t>Grouped Bar Chart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who </a:t>
            </a:r>
            <a:r>
              <a:rPr lang="en-US" sz="1600" b="1" dirty="0"/>
              <a:t>do not work remotely</a:t>
            </a:r>
            <a:r>
              <a:rPr lang="en-US" sz="1600" dirty="0"/>
              <a:t> report higher counts of mental health interference across all categories.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 “sometimes” interference category is the most common for both remote and non-remote employees.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working remotely show </a:t>
            </a:r>
            <a:r>
              <a:rPr lang="en-US" sz="1600" b="1" dirty="0"/>
              <a:t>lower counts of frequent (“often”) interference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Remote work appears to </a:t>
            </a:r>
            <a:r>
              <a:rPr lang="en-US" sz="1600" b="1" dirty="0"/>
              <a:t>reduce the frequency of mental health interference</a:t>
            </a:r>
            <a:r>
              <a:rPr lang="en-US" sz="1600" dirty="0"/>
              <a:t>, possibly due to increased flexibility.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Work-from-home or hybrid models may help employees better manage stress and mental health.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Flexible work arrangements can be an effective strategy for improving employee well-being.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C9E4F9-D3F2-9375-E81C-46527A67D0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05339" y="1770927"/>
            <a:ext cx="4929315" cy="379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D083-A5AF-5D03-53BE-4C71B3F2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6BBC-BD5F-2A76-FE4D-2D60859D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84512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7. Remote Work vs Mental Health Interference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96D8F-56CD-661C-82C6-BA0C79622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48" y="1600201"/>
            <a:ext cx="4194858" cy="4525963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Visualization Type :</a:t>
            </a:r>
            <a:r>
              <a:rPr lang="en-US" sz="1600" dirty="0"/>
              <a:t>Bar Chart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 </a:t>
            </a:r>
            <a:r>
              <a:rPr lang="en-US" sz="1600" b="1" dirty="0"/>
              <a:t>United States</a:t>
            </a:r>
            <a:r>
              <a:rPr lang="en-US" sz="1600" dirty="0"/>
              <a:t> has the highest number of employee responses by a large margin.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 </a:t>
            </a:r>
            <a:r>
              <a:rPr lang="en-US" sz="1600" b="1" dirty="0"/>
              <a:t>United Kingdom</a:t>
            </a:r>
            <a:r>
              <a:rPr lang="en-US" sz="1600" dirty="0"/>
              <a:t> and </a:t>
            </a:r>
            <a:r>
              <a:rPr lang="en-US" sz="1600" b="1" dirty="0"/>
              <a:t>Canada</a:t>
            </a:r>
            <a:r>
              <a:rPr lang="en-US" sz="1600" dirty="0"/>
              <a:t> follow but with significantly fewer responses.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Germany</a:t>
            </a:r>
            <a:r>
              <a:rPr lang="en-US" sz="1600" dirty="0"/>
              <a:t> and </a:t>
            </a:r>
            <a:r>
              <a:rPr lang="en-US" sz="1600" b="1" dirty="0"/>
              <a:t>Australia</a:t>
            </a:r>
            <a:r>
              <a:rPr lang="en-US" sz="1600" dirty="0"/>
              <a:t> have minimal representation compared to the top countries.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The dataset is </a:t>
            </a:r>
            <a:r>
              <a:rPr lang="en-US" sz="1600" b="1" dirty="0"/>
              <a:t>heavily dominated by the United States</a:t>
            </a:r>
            <a:r>
              <a:rPr lang="en-US" sz="1600" dirty="0"/>
              <a:t>, making it largely US-centric.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Cultural and workplace practices from other regions may be underrepresented.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Findings should be interpreted with caution when generalizing to a global workforce.</a:t>
            </a:r>
          </a:p>
        </p:txBody>
      </p:sp>
      <p:pic>
        <p:nvPicPr>
          <p:cNvPr id="8" name="Content Placeholder 7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520D2BA4-93D2-176E-764D-DF2AE5795E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11729" y="1600201"/>
            <a:ext cx="4832271" cy="408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70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F07E-F9EB-E06F-CBFA-55E53178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072B-0651-A271-1C9F-C3B7AD9B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84512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8. Remote Work vs Mental Health Interference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1A4A0-9187-78BD-B823-3DDED5F0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48" y="1600201"/>
            <a:ext cx="4426352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/>
              <a:t>Visualization Type :</a:t>
            </a:r>
            <a:r>
              <a:rPr lang="en-US" sz="1600" dirty="0"/>
              <a:t>Heatmap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Observations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Employees with </a:t>
            </a:r>
            <a:r>
              <a:rPr lang="en-US" sz="1600" b="1" dirty="0"/>
              <a:t>supportive supervisors (Yes)</a:t>
            </a:r>
            <a:r>
              <a:rPr lang="en-US" sz="1600" dirty="0"/>
              <a:t> mostly report </a:t>
            </a:r>
            <a:r>
              <a:rPr lang="en-US" sz="1600" b="1" dirty="0"/>
              <a:t>no mental health consequences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When supervisor support is </a:t>
            </a:r>
            <a:r>
              <a:rPr lang="en-US" sz="1600" b="1" dirty="0"/>
              <a:t>absent (No)</a:t>
            </a:r>
            <a:r>
              <a:rPr lang="en-US" sz="1600" dirty="0"/>
              <a:t>, the count of reported </a:t>
            </a:r>
            <a:r>
              <a:rPr lang="en-US" sz="1600" b="1" dirty="0"/>
              <a:t>negative consequences increases significantly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Partial support (“Some of them”) shows mixed outcomes, indicating inconsistency in employee experience.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Strong supervisor support </a:t>
            </a:r>
            <a:r>
              <a:rPr lang="en-US" sz="1600" b="1" dirty="0"/>
              <a:t>reduces fear and negative consequences</a:t>
            </a:r>
            <a:r>
              <a:rPr lang="en-US" sz="1600" dirty="0"/>
              <a:t> related to mental health disclosure.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Manager behavior plays a critical role in creating a </a:t>
            </a:r>
            <a:r>
              <a:rPr lang="en-US" sz="1600" b="1" dirty="0"/>
              <a:t>psychologically safe work environment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Training supervisors to handle mental health concerns can significantly improve employee well-being.</a:t>
            </a:r>
          </a:p>
        </p:txBody>
      </p:sp>
      <p:pic>
        <p:nvPicPr>
          <p:cNvPr id="7" name="Content Placeholder 6" descr="A graph of a survey&#10;&#10;AI-generated content may be incorrect.">
            <a:extLst>
              <a:ext uri="{FF2B5EF4-FFF2-40B4-BE49-F238E27FC236}">
                <a16:creationId xmlns:a16="http://schemas.microsoft.com/office/drawing/2014/main" id="{3939CE8E-B7C1-A18D-4A9D-273EDFB56B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17357" y="1694751"/>
            <a:ext cx="4826643" cy="388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6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19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365" y="1132840"/>
            <a:ext cx="7875270" cy="5603241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600" dirty="0"/>
              <a:t>The workforce is primarily composed of </a:t>
            </a:r>
            <a:r>
              <a:rPr lang="en-US" sz="1600" b="1" dirty="0"/>
              <a:t>early to mid-career professionals</a:t>
            </a:r>
            <a:r>
              <a:rPr lang="en-US" sz="1600" dirty="0"/>
              <a:t>, with most employees aged between 25 and 40 years.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Employees who seek mental health treatment tend to be </a:t>
            </a:r>
            <a:r>
              <a:rPr lang="en-US" sz="1600" b="1" dirty="0"/>
              <a:t>slightly older</a:t>
            </a:r>
            <a:r>
              <a:rPr lang="en-US" sz="1600" dirty="0"/>
              <a:t>, indicating increased awareness with experience.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The dataset is </a:t>
            </a:r>
            <a:r>
              <a:rPr lang="en-US" sz="1600" b="1" dirty="0"/>
              <a:t>male-dominated</a:t>
            </a:r>
            <a:r>
              <a:rPr lang="en-US" sz="1600" dirty="0"/>
              <a:t>, which may influence overall mental health trends and reporting behavior.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A </a:t>
            </a:r>
            <a:r>
              <a:rPr lang="en-US" sz="1600" b="1" dirty="0"/>
              <a:t>family history of mental illness</a:t>
            </a:r>
            <a:r>
              <a:rPr lang="en-US" sz="1600" dirty="0"/>
              <a:t> strongly increases the likelihood of seeking treatment.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Mental health issues </a:t>
            </a:r>
            <a:r>
              <a:rPr lang="en-US" sz="1600" b="1" dirty="0"/>
              <a:t>frequently interfere with work</a:t>
            </a:r>
            <a:r>
              <a:rPr lang="en-US" sz="1600" dirty="0"/>
              <a:t>, even if not on a constant basis.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Remote work</a:t>
            </a:r>
            <a:r>
              <a:rPr lang="en-US" sz="1600" dirty="0"/>
              <a:t> appears to reduce the frequency of mental health interference.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Supportive supervisors</a:t>
            </a:r>
            <a:r>
              <a:rPr lang="en-US" sz="1600" dirty="0"/>
              <a:t> significantly lower negative consequences related to mental health disclosure.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The dataset is </a:t>
            </a:r>
            <a:r>
              <a:rPr lang="en-US" sz="1600" b="1" dirty="0"/>
              <a:t>largely US-centric</a:t>
            </a:r>
            <a:r>
              <a:rPr lang="en-US" sz="1600" dirty="0"/>
              <a:t>, so findings should be generalized with caution.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9251" cy="4525963"/>
          </a:xfrm>
        </p:spPr>
        <p:txBody>
          <a:bodyPr>
            <a:normAutofit/>
          </a:bodyPr>
          <a:lstStyle/>
          <a:p>
            <a:r>
              <a:rPr lang="en-US" sz="2000" dirty="0"/>
              <a:t>Mental health concerns commonly affect </a:t>
            </a:r>
            <a:r>
              <a:rPr lang="en-US" sz="2000" b="1" dirty="0"/>
              <a:t>early and mid-career employees</a:t>
            </a:r>
            <a:r>
              <a:rPr lang="en-US" sz="2000" dirty="0"/>
              <a:t> and impact work performance.</a:t>
            </a:r>
          </a:p>
          <a:p>
            <a:r>
              <a:rPr lang="en-US" sz="2000" dirty="0"/>
              <a:t>Factors like </a:t>
            </a:r>
            <a:r>
              <a:rPr lang="en-US" sz="2000" b="1" dirty="0"/>
              <a:t>family history, supervisor support, and remote work</a:t>
            </a:r>
            <a:r>
              <a:rPr lang="en-US" sz="2000" dirty="0"/>
              <a:t> strongly influence mental well-being.</a:t>
            </a:r>
          </a:p>
          <a:p>
            <a:r>
              <a:rPr lang="en-US" sz="2000" dirty="0"/>
              <a:t>Supportive leadership and flexible work policies help </a:t>
            </a:r>
            <a:r>
              <a:rPr lang="en-US" sz="2000" b="1" dirty="0"/>
              <a:t>reduce mental health-related challenges</a:t>
            </a:r>
            <a:r>
              <a:rPr lang="en-US" sz="2000" dirty="0"/>
              <a:t>.</a:t>
            </a:r>
          </a:p>
          <a:p>
            <a:r>
              <a:rPr lang="en-US" sz="2000" dirty="0"/>
              <a:t>Data-driven insights can guide organizations in improving </a:t>
            </a:r>
            <a:r>
              <a:rPr lang="en-US" sz="2000" b="1" dirty="0"/>
              <a:t>workplace mental health support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88FF5-D225-CFDE-D358-EF279F9C148F}"/>
              </a:ext>
            </a:extLst>
          </p:cNvPr>
          <p:cNvSpPr txBox="1"/>
          <p:nvPr/>
        </p:nvSpPr>
        <p:spPr>
          <a:xfrm>
            <a:off x="3133704" y="3013501"/>
            <a:ext cx="3643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6049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1222</Words>
  <Application>Microsoft Office PowerPoint</Application>
  <PresentationFormat>On-screen Show (4:3)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Employee Wellness Analysis</vt:lpstr>
      <vt:lpstr>Introduction</vt:lpstr>
      <vt:lpstr>Objectives</vt:lpstr>
      <vt:lpstr>Dataset Overview</vt:lpstr>
      <vt:lpstr>Data Preparation</vt:lpstr>
      <vt:lpstr>1. Age Distribution</vt:lpstr>
      <vt:lpstr>2. Age Dsitribution by Treatment</vt:lpstr>
      <vt:lpstr>3. Gender Distribution </vt:lpstr>
      <vt:lpstr>4. Family History vs Mental Health Treatment</vt:lpstr>
      <vt:lpstr>5. Mental Health Inteference at Work</vt:lpstr>
      <vt:lpstr>6. Remote Work vs Mental Health Interference</vt:lpstr>
      <vt:lpstr>7. Remote Work vs Mental Health Interference</vt:lpstr>
      <vt:lpstr>8. Remote Work vs Mental Health Interference</vt:lpstr>
      <vt:lpstr>Key Insights Summary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KALPESH RAJPUT</cp:lastModifiedBy>
  <cp:revision>3</cp:revision>
  <dcterms:created xsi:type="dcterms:W3CDTF">2013-01-27T09:14:16Z</dcterms:created>
  <dcterms:modified xsi:type="dcterms:W3CDTF">2025-12-19T18:07:53Z</dcterms:modified>
  <cp:category/>
</cp:coreProperties>
</file>